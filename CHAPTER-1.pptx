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6" r:id="rId2"/>
    <p:sldId id="275" r:id="rId3"/>
    <p:sldId id="258" r:id="rId4"/>
    <p:sldId id="314" r:id="rId5"/>
    <p:sldId id="276" r:id="rId6"/>
    <p:sldId id="277" r:id="rId7"/>
    <p:sldId id="278" r:id="rId8"/>
    <p:sldId id="279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5" r:id="rId29"/>
    <p:sldId id="334" r:id="rId30"/>
    <p:sldId id="272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3" autoAdjust="0"/>
    <p:restoredTop sz="95033" autoAdjust="0"/>
  </p:normalViewPr>
  <p:slideViewPr>
    <p:cSldViewPr snapToGrid="0">
      <p:cViewPr varScale="1">
        <p:scale>
          <a:sx n="62" d="100"/>
          <a:sy n="62" d="100"/>
        </p:scale>
        <p:origin x="1228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75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DE6AC-9ACF-4929-B820-39B657DA30C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649FB-1A5C-4ADE-AC4E-C740F5198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04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B90AC0-D5C3-AD43-91A3-7D18C836627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E4CE2-CEC8-754E-B21E-2BD547D16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92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/>
          <p:nvPr userDrawn="1"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9" name="Rectangle 8"/>
          <p:cNvSpPr/>
          <p:nvPr userDrawn="1"/>
        </p:nvSpPr>
        <p:spPr>
          <a:xfrm>
            <a:off x="603478" y="2256535"/>
            <a:ext cx="7887578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&amp;</a:t>
            </a:r>
            <a:r>
              <a:rPr lang="en-US" sz="405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with </a:t>
            </a:r>
            <a:br>
              <a:rPr lang="en-US" sz="4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ESP8266</a:t>
            </a:r>
            <a:endParaRPr lang="en-US" sz="4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" y="250378"/>
            <a:ext cx="8438496" cy="6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85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10"/>
          <p:cNvGrpSpPr/>
          <p:nvPr userDrawn="1"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4" name="object 11"/>
            <p:cNvSpPr/>
            <p:nvPr/>
          </p:nvSpPr>
          <p:spPr>
            <a:xfrm>
              <a:off x="-4801433" y="1790698"/>
              <a:ext cx="12600815" cy="983098"/>
            </a:xfrm>
            <a:custGeom>
              <a:avLst/>
              <a:gdLst/>
              <a:ahLst/>
              <a:cxnLst/>
              <a:rect l="l" t="t" r="r" b="b"/>
              <a:pathLst>
                <a:path w="4610100" h="66040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  <p:sp>
          <p:nvSpPr>
            <p:cNvPr id="5" name="object 12"/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166" y="253736"/>
            <a:ext cx="2161851" cy="8637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" y="253736"/>
            <a:ext cx="4597617" cy="69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1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6" name="Rectangle 5"/>
          <p:cNvSpPr/>
          <p:nvPr userDrawn="1"/>
        </p:nvSpPr>
        <p:spPr>
          <a:xfrm>
            <a:off x="344873" y="3245670"/>
            <a:ext cx="2761065" cy="40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4" b="1" dirty="0"/>
              <a:t> </a:t>
            </a:r>
            <a:br>
              <a:rPr lang="en-US" sz="865" dirty="0"/>
            </a:br>
            <a:endParaRPr lang="en-US" sz="865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" y="250378"/>
            <a:ext cx="8438496" cy="6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335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91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" y="250378"/>
            <a:ext cx="8438496" cy="6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7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65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3" r:id="rId3"/>
    <p:sldLayoutId id="2147483674" r:id="rId4"/>
    <p:sldLayoutId id="214748366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lang="en-IN" sz="865"/>
          </a:p>
        </p:txBody>
      </p:sp>
      <p:sp>
        <p:nvSpPr>
          <p:cNvPr id="5" name="Rectangle 4"/>
          <p:cNvSpPr/>
          <p:nvPr/>
        </p:nvSpPr>
        <p:spPr>
          <a:xfrm>
            <a:off x="603478" y="2256535"/>
            <a:ext cx="788757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4400" b="1" dirty="0">
                <a:solidFill>
                  <a:schemeClr val="bg1"/>
                </a:solidFill>
                <a:latin typeface="Arial" panose="020B0604020202020204" pitchFamily="34" charset="0"/>
              </a:rPr>
              <a:t>Fundamentals </a:t>
            </a:r>
            <a:r>
              <a:rPr lang="en-IN" altLang="en-US" sz="4400" b="1">
                <a:solidFill>
                  <a:schemeClr val="bg1"/>
                </a:solidFill>
                <a:latin typeface="Arial" panose="020B0604020202020204" pitchFamily="34" charset="0"/>
              </a:rPr>
              <a:t>of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4400" b="1">
                <a:solidFill>
                  <a:schemeClr val="bg1"/>
                </a:solidFill>
                <a:latin typeface="Arial" panose="020B0604020202020204" pitchFamily="34" charset="0"/>
              </a:rPr>
              <a:t>Computer Networks</a:t>
            </a:r>
            <a:endParaRPr lang="en-IN" altLang="en-US" sz="4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740" y="5601409"/>
            <a:ext cx="537996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Prof. DEEPAK PALAVALASA  </a:t>
            </a:r>
            <a:br>
              <a:rPr lang="en-US" sz="1058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Assistant Professor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 &amp; Data Science (AI&amp;DS) Department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2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DDD1C7-30A8-6F0B-4F00-4DF1E563DD59}"/>
              </a:ext>
            </a:extLst>
          </p:cNvPr>
          <p:cNvSpPr txBox="1"/>
          <p:nvPr/>
        </p:nvSpPr>
        <p:spPr>
          <a:xfrm>
            <a:off x="509733" y="1758619"/>
            <a:ext cx="60742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Content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7572B-F8CF-05D5-088E-D3A64E833EAC}"/>
              </a:ext>
            </a:extLst>
          </p:cNvPr>
          <p:cNvSpPr txBox="1"/>
          <p:nvPr/>
        </p:nvSpPr>
        <p:spPr>
          <a:xfrm>
            <a:off x="509733" y="2189506"/>
            <a:ext cx="596007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  <a:defRPr/>
            </a:pP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Definition……………………………………………………..3</a:t>
            </a:r>
          </a:p>
          <a:p>
            <a:pPr>
              <a:defRPr/>
            </a:pP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2. </a:t>
            </a:r>
            <a:r>
              <a:rPr lang="en-US" sz="2000" dirty="0">
                <a:cs typeface="Arial" charset="0"/>
              </a:rPr>
              <a:t>Importance of Networks in AI Applications</a:t>
            </a: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………5</a:t>
            </a:r>
          </a:p>
          <a:p>
            <a:pPr>
              <a:defRPr/>
            </a:pP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3. </a:t>
            </a:r>
            <a:r>
              <a:rPr lang="en-US" sz="2000" dirty="0">
                <a:cs typeface="Arial" charset="0"/>
              </a:rPr>
              <a:t>Importance of Networks in IoT Applications……..</a:t>
            </a: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6</a:t>
            </a:r>
          </a:p>
          <a:p>
            <a:pPr>
              <a:defRPr/>
            </a:pP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4. Network Types………………………………………………….7</a:t>
            </a:r>
          </a:p>
          <a:p>
            <a:pPr>
              <a:defRPr/>
            </a:pP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5.OSI Reference Model………………………………………..12</a:t>
            </a:r>
          </a:p>
          <a:p>
            <a:pPr>
              <a:defRPr/>
            </a:pP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6.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sz="2000" dirty="0"/>
              <a:t>TCP/IP Protocol Suite &amp; Comparison with OSI Model………………………………………………………………….</a:t>
            </a: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16</a:t>
            </a:r>
          </a:p>
          <a:p>
            <a:pPr>
              <a:defRPr/>
            </a:pP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7.</a:t>
            </a:r>
            <a:r>
              <a:rPr lang="en-IN" sz="2000" dirty="0"/>
              <a:t>TCP/IP vs. OSI – Structural Comparison………</a:t>
            </a: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……..19</a:t>
            </a:r>
          </a:p>
          <a:p>
            <a:pPr>
              <a:defRPr/>
            </a:pP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8.</a:t>
            </a:r>
            <a:r>
              <a:rPr lang="en-IN" sz="2000" dirty="0"/>
              <a:t>TCP/IP vs. OSI – Functional Differences………</a:t>
            </a: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……..20</a:t>
            </a:r>
          </a:p>
          <a:p>
            <a:pPr>
              <a:defRPr/>
            </a:pP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9. </a:t>
            </a:r>
            <a:r>
              <a:rPr lang="en-IN" sz="2000" dirty="0"/>
              <a:t>Network Topologies..</a:t>
            </a: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………………………………………..21</a:t>
            </a:r>
          </a:p>
          <a:p>
            <a:pPr>
              <a:defRPr/>
            </a:pPr>
            <a:r>
              <a:rPr lang="en-US" sz="2000" dirty="0">
                <a:solidFill>
                  <a:schemeClr val="dk1"/>
                </a:solidFill>
                <a:ea typeface="Calibri"/>
                <a:cs typeface="Calibri"/>
                <a:sym typeface="Arial"/>
              </a:rPr>
              <a:t>10.</a:t>
            </a:r>
            <a:r>
              <a:rPr lang="en-US" sz="2000" dirty="0"/>
              <a:t>Switching </a:t>
            </a:r>
            <a:r>
              <a:rPr lang="en-US" sz="2000"/>
              <a:t>Techniques………………</a:t>
            </a:r>
            <a:r>
              <a:rPr lang="en-US" sz="2000">
                <a:solidFill>
                  <a:schemeClr val="dk1"/>
                </a:solidFill>
                <a:ea typeface="Calibri"/>
                <a:cs typeface="Calibri"/>
                <a:sym typeface="Arial"/>
              </a:rPr>
              <a:t>………………………26</a:t>
            </a:r>
            <a:endParaRPr lang="en-US" sz="2000" dirty="0">
              <a:solidFill>
                <a:schemeClr val="dk1"/>
              </a:solidFill>
              <a:ea typeface="Calibri"/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8835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41BF07-270E-3FC8-75B1-2D53AB4B9C77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9A18779-497E-00F7-5755-744714C678A6}"/>
              </a:ext>
            </a:extLst>
          </p:cNvPr>
          <p:cNvSpPr txBox="1"/>
          <p:nvPr/>
        </p:nvSpPr>
        <p:spPr>
          <a:xfrm>
            <a:off x="446942" y="1023575"/>
            <a:ext cx="458717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Arial"/>
              </a:rPr>
              <a:t>Computer Networks:</a:t>
            </a:r>
            <a:endParaRPr lang="en-US" sz="2800" b="1" dirty="0">
              <a:latin typeface="+mj-lt"/>
              <a:cs typeface="Arial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computer network is a collection of interconnected devices that communicate to share data, resources, and services.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enables communication between computers, smartphones, servers, sensors, and cloud platforms.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Networking uses physical media (cables, radio waves) and protocols (TCP/IP, HTTP) to ensure reliable communication.</a:t>
            </a:r>
          </a:p>
          <a:p>
            <a:pPr algn="just"/>
            <a:r>
              <a:rPr lang="en-US" sz="2000" b="1" dirty="0">
                <a:solidFill>
                  <a:schemeClr val="dk2"/>
                </a:solidFill>
                <a:ea typeface="Calibri"/>
                <a:cs typeface="Calibri"/>
                <a:sym typeface="Arial"/>
              </a:rPr>
              <a:t> </a:t>
            </a:r>
            <a:endParaRPr lang="en-US" sz="2000" b="1" dirty="0">
              <a:latin typeface="+mj-lt"/>
              <a:cs typeface="Arial" charset="0"/>
            </a:endParaRPr>
          </a:p>
        </p:txBody>
      </p:sp>
      <p:pic>
        <p:nvPicPr>
          <p:cNvPr id="1039" name="Picture 15">
            <a:extLst>
              <a:ext uri="{FF2B5EF4-FFF2-40B4-BE49-F238E27FC236}">
                <a16:creationId xmlns:a16="http://schemas.microsoft.com/office/drawing/2014/main" id="{C85C42E7-F855-B73D-48A2-631D2237D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481" y="1402018"/>
            <a:ext cx="3913239" cy="405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70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16B97B-7CD8-4753-D9A6-64F366CD0FB8}"/>
              </a:ext>
            </a:extLst>
          </p:cNvPr>
          <p:cNvSpPr txBox="1"/>
          <p:nvPr/>
        </p:nvSpPr>
        <p:spPr>
          <a:xfrm>
            <a:off x="698090" y="1160206"/>
            <a:ext cx="7855976" cy="318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chemeClr val="dk2"/>
                </a:solidFill>
                <a:ea typeface="Calibri"/>
                <a:cs typeface="Calibri"/>
                <a:sym typeface="Arial"/>
              </a:rPr>
              <a:t>History: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Networking began with ARPANET (1969), the first packet-switched network that led to the modern internet.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development of TCP/IP in the 1970s standardized communication across systems.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1990s saw rapid internet growth, Wi-Fi emergence, and global digital connectivity.</a:t>
            </a:r>
          </a:p>
        </p:txBody>
      </p:sp>
    </p:spTree>
    <p:extLst>
      <p:ext uri="{BB962C8B-B14F-4D97-AF65-F5344CB8AC3E}">
        <p14:creationId xmlns:p14="http://schemas.microsoft.com/office/powerpoint/2010/main" val="2643417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A6D16-91AB-FB82-1F68-B371C39C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98C4A5-2FA6-5E0C-1DDF-BD9CCD0348C7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E97BC6-DB81-84B1-0C72-CB3CC3CCEC0E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C02CB06-173C-9CBE-7611-0FFA9DA57432}"/>
              </a:ext>
            </a:extLst>
          </p:cNvPr>
          <p:cNvSpPr txBox="1"/>
          <p:nvPr/>
        </p:nvSpPr>
        <p:spPr>
          <a:xfrm>
            <a:off x="181475" y="1023575"/>
            <a:ext cx="8795377" cy="3922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cs typeface="Arial" charset="0"/>
              </a:rPr>
              <a:t>Importance of Networks in AI Applications:</a:t>
            </a:r>
          </a:p>
          <a:p>
            <a:pPr>
              <a:defRPr/>
            </a:pPr>
            <a:endParaRPr lang="en-US" sz="1800" b="1" dirty="0">
              <a:latin typeface="+mj-lt"/>
              <a:cs typeface="Arial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AI systems require fast access to large datasets, cloud storage, and computational servers.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Networks enable real-time communication between AI models running on cloud and edge devices.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AI-based services (chatbots, recommendation systems, autonomous vehicles) rely on stable, low-latency networks.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Networking improves scalability, allowing AI to run across multiple machines.</a:t>
            </a:r>
          </a:p>
        </p:txBody>
      </p:sp>
    </p:spTree>
    <p:extLst>
      <p:ext uri="{BB962C8B-B14F-4D97-AF65-F5344CB8AC3E}">
        <p14:creationId xmlns:p14="http://schemas.microsoft.com/office/powerpoint/2010/main" val="1579490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022FB-19F8-3A68-4451-4B9DA109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93DB98-8324-B0BC-6FCE-135D42571417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7F175C-3B95-3629-DEB0-DD67051207CA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FB4F7A4-2467-7FF8-6DC6-116DD203ADAE}"/>
              </a:ext>
            </a:extLst>
          </p:cNvPr>
          <p:cNvSpPr txBox="1"/>
          <p:nvPr/>
        </p:nvSpPr>
        <p:spPr>
          <a:xfrm>
            <a:off x="539307" y="1142916"/>
            <a:ext cx="7483815" cy="447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cs typeface="Arial" charset="0"/>
              </a:rPr>
              <a:t>Importance of Networks in IoT Applications:</a:t>
            </a:r>
          </a:p>
          <a:p>
            <a:pPr>
              <a:defRPr/>
            </a:pPr>
            <a:endParaRPr lang="en-US" sz="2400" b="1" dirty="0">
              <a:solidFill>
                <a:schemeClr val="accent1">
                  <a:lumMod val="50000"/>
                </a:schemeClr>
              </a:solidFill>
              <a:latin typeface="+mj-lt"/>
              <a:cs typeface="Arial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IoT devices like sensors, smart appliances, and wearables depend on networks to send and receive data.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Networks allow continuous monitoring, automation, and remote control of IoT systems.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Protocols like Wi-Fi, Bluetooth, Zigbee, and 5G support IoT connectivity for different environments.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Reliable networking ensures real-time decision-making in smart homes, health monitoring, and industrial IoT.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22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94008-1D96-6B36-92D5-A44784F36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4C29FC-734B-49FE-28FD-E4D11D5655FE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AF94B7-873D-A7C2-F276-41540655BC50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10283FD-069C-D145-A7B8-888DC1A3CA68}"/>
              </a:ext>
            </a:extLst>
          </p:cNvPr>
          <p:cNvSpPr txBox="1"/>
          <p:nvPr/>
        </p:nvSpPr>
        <p:spPr>
          <a:xfrm>
            <a:off x="236233" y="1233507"/>
            <a:ext cx="5073186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Network Types:</a:t>
            </a:r>
          </a:p>
          <a:p>
            <a:pPr>
              <a:defRPr/>
            </a:pPr>
            <a:endParaRPr lang="en-US" sz="2400" b="1" dirty="0">
              <a:solidFill>
                <a:schemeClr val="dk2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(Body)"/>
                <a:cs typeface="Arial" charset="0"/>
              </a:rPr>
              <a:t>Network types are classified based on coverage area, ownership and usage.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 (Body)"/>
              </a:rPr>
              <a:t>The major types are LAN, WAN, MAN, and PAN, and etc., each serving different communication needs.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alibri (Body)"/>
              <a:cs typeface="Arial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 (Body)"/>
              </a:rPr>
              <a:t>They range from short-distance personal connectivity to long-distance global communication.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libri (Body)"/>
              <a:cs typeface="Arial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Arial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2029C8-3094-B3CA-99E1-095B40349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760" y="1381884"/>
            <a:ext cx="3834582" cy="409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44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C45E5-C24D-9718-85D0-AAD50314D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6C4ADC-0DFB-B304-9AF2-D440CD2BD934}"/>
              </a:ext>
            </a:extLst>
          </p:cNvPr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CC2687-D85F-9C34-07EF-10A429DFFC01}"/>
              </a:ext>
            </a:extLst>
          </p:cNvPr>
          <p:cNvCxnSpPr/>
          <p:nvPr/>
        </p:nvCxnSpPr>
        <p:spPr>
          <a:xfrm>
            <a:off x="0" y="102357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3DE5830-067B-99EF-ECBD-1EC11DC29A99}"/>
              </a:ext>
            </a:extLst>
          </p:cNvPr>
          <p:cNvSpPr txBox="1"/>
          <p:nvPr/>
        </p:nvSpPr>
        <p:spPr>
          <a:xfrm>
            <a:off x="539307" y="1131298"/>
            <a:ext cx="8250115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altLang="en-US" sz="2400" b="1" dirty="0">
                <a:solidFill>
                  <a:schemeClr val="accent1">
                    <a:lumMod val="50000"/>
                  </a:schemeClr>
                </a:solidFill>
              </a:rPr>
              <a:t>LAN(Local Area Network):</a:t>
            </a:r>
          </a:p>
          <a:p>
            <a:endParaRPr lang="en-US" sz="2400" b="1" dirty="0"/>
          </a:p>
          <a:p>
            <a:r>
              <a:rPr lang="en-US" sz="2400" b="1" dirty="0"/>
              <a:t>Characteristics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Covers a small geographical area such as a home, school, laboratory, or office.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 data transfer speed and low latency due to short distances.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Usually owned, managed, and controlled by a single organization.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Use Cases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Connecting computers and printers in offices.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Home Wi-Fi networks.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School and campus networks.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400" b="1" dirty="0">
              <a:solidFill>
                <a:schemeClr val="accent1">
                  <a:lumMod val="50000"/>
                </a:schemeClr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53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8E7EF9-663E-FA18-F36B-A8557B8BD7BF}"/>
              </a:ext>
            </a:extLst>
          </p:cNvPr>
          <p:cNvSpPr txBox="1"/>
          <p:nvPr/>
        </p:nvSpPr>
        <p:spPr>
          <a:xfrm>
            <a:off x="496529" y="1009953"/>
            <a:ext cx="786089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altLang="en-US" sz="2400" b="1" dirty="0">
                <a:solidFill>
                  <a:schemeClr val="accent1">
                    <a:lumMod val="50000"/>
                  </a:schemeClr>
                </a:solidFill>
              </a:rPr>
              <a:t>MAN(Metropolitan Area Network):</a:t>
            </a:r>
          </a:p>
          <a:p>
            <a:endParaRPr lang="en-US" sz="2400" b="1" dirty="0"/>
          </a:p>
          <a:p>
            <a:r>
              <a:rPr lang="en-US" sz="2000" b="1" dirty="0"/>
              <a:t>Characteristics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Covers an area larger than a LAN but smaller than a WAN—typically a city or a group of buildings.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Uses high-speed fiber networks to connect multiple LANs within a metropolitan region.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Often maintained by government or telecom companies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Use Cases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City-wide public Wi-Fi.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Connectivity between branches of an organization across a city.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Cable TV networks.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I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049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F24F35-4340-4B99-C8F6-EC81CE2A66D2}"/>
              </a:ext>
            </a:extLst>
          </p:cNvPr>
          <p:cNvSpPr txBox="1"/>
          <p:nvPr/>
        </p:nvSpPr>
        <p:spPr>
          <a:xfrm>
            <a:off x="304799" y="1022555"/>
            <a:ext cx="8268929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IN" altLang="en-US" sz="2400" b="1" dirty="0">
                <a:solidFill>
                  <a:schemeClr val="accent1">
                    <a:lumMod val="50000"/>
                  </a:schemeClr>
                </a:solidFill>
              </a:rPr>
              <a:t>WAN(Wide Area Network):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Characteristics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Spans a large geographical area—country, continent, or even globally.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Uses satellite links, undersea cables, and telecom networks for long-distance communication.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Lower speeds compared to LANs due to long distances and shared infrastructure.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Use Cases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Internet (largest WAN).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Corporate networks connecting global offices.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Banking networks linking ATMs nationwide.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I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797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E54935-59A7-64AF-56EE-8147FA8DBFEA}"/>
              </a:ext>
            </a:extLst>
          </p:cNvPr>
          <p:cNvSpPr txBox="1"/>
          <p:nvPr/>
        </p:nvSpPr>
        <p:spPr>
          <a:xfrm>
            <a:off x="304800" y="1032387"/>
            <a:ext cx="8062452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IN" altLang="en-US" sz="2400" b="1" dirty="0">
                <a:solidFill>
                  <a:schemeClr val="accent1">
                    <a:lumMod val="50000"/>
                  </a:schemeClr>
                </a:solidFill>
              </a:rPr>
              <a:t>PAN(Personal Area Network):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Characteristics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Very small network around an individual, typically within a 10-meter range.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Low-power, short-range wireless technologies like Bluetooth, Zigbee, and Infrared.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Designed for personal devices.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Use Cases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Connecting smartphones to earphones (Bluetooth).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Smartwatch and mobile communication.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Personal hotspot sharing internet.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I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065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10C2C0-2C22-144E-8B6B-5EA03F1C5B26}"/>
              </a:ext>
            </a:extLst>
          </p:cNvPr>
          <p:cNvSpPr txBox="1"/>
          <p:nvPr/>
        </p:nvSpPr>
        <p:spPr>
          <a:xfrm>
            <a:off x="88491" y="1052052"/>
            <a:ext cx="4866968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altLang="en-US" sz="2400" b="1" dirty="0">
                <a:solidFill>
                  <a:schemeClr val="accent1">
                    <a:lumMod val="50000"/>
                  </a:schemeClr>
                </a:solidFill>
              </a:rPr>
              <a:t>OSI Reference Model: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OSI (Open Systems Interconnection) model is a 7-layer conceptual framework that standardizes how data travels across networks.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Each layer performs a specific function and communicates with the layers directly above and below it.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helps in understanding networking operations, troubleshooting, and protocol design.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5440D93-5CD8-E082-0193-D78E7C987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724" y="1052052"/>
            <a:ext cx="3923295" cy="4984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661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7DFAE3-429A-6A3F-9D00-6EE6F864AF5D}"/>
              </a:ext>
            </a:extLst>
          </p:cNvPr>
          <p:cNvSpPr txBox="1"/>
          <p:nvPr/>
        </p:nvSpPr>
        <p:spPr>
          <a:xfrm>
            <a:off x="294968" y="1002891"/>
            <a:ext cx="8681884" cy="49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Upper Layers (Application, Presentation, Session)</a:t>
            </a:r>
          </a:p>
          <a:p>
            <a:pPr>
              <a:buNone/>
            </a:pPr>
            <a:endParaRPr lang="en-US" sz="2400" b="1" dirty="0"/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Application Layer (Layer 7)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Provides network services directly to end users and applications (e.g., HTTP, FTP).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Handles user interactions and data access.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Presentation Layer (Layer 6)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Translates data between application format and network format.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Handles encryption, compression, and data encoding.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Session Layer (Layer 5)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Manages communication sessions between devices.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Controls opening, maintaining, and closing of communication channels.</a:t>
            </a:r>
          </a:p>
        </p:txBody>
      </p:sp>
    </p:spTree>
    <p:extLst>
      <p:ext uri="{BB962C8B-B14F-4D97-AF65-F5344CB8AC3E}">
        <p14:creationId xmlns:p14="http://schemas.microsoft.com/office/powerpoint/2010/main" val="708377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C61C9A-3A5F-A16F-1F80-DA0095EE6739}"/>
              </a:ext>
            </a:extLst>
          </p:cNvPr>
          <p:cNvSpPr txBox="1"/>
          <p:nvPr/>
        </p:nvSpPr>
        <p:spPr>
          <a:xfrm>
            <a:off x="196645" y="1042219"/>
            <a:ext cx="8740878" cy="447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Middle Layers (Transport &amp; Network)</a:t>
            </a:r>
          </a:p>
          <a:p>
            <a:pPr algn="just">
              <a:buNone/>
            </a:pP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Transport Layer (Layer 4)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Provides end-to-end communication and reliability.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Uses protocols like TCP (reliable) and UDP (fast, unreliable).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Handles segmentation, error control, and flow control.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Network Layer (Layer 3)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Responsible for routing packets across different networks.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Uses IP addressing, path selection, and packet forwarding.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Routers operate at this layer.</a:t>
            </a:r>
          </a:p>
        </p:txBody>
      </p:sp>
    </p:spTree>
    <p:extLst>
      <p:ext uri="{BB962C8B-B14F-4D97-AF65-F5344CB8AC3E}">
        <p14:creationId xmlns:p14="http://schemas.microsoft.com/office/powerpoint/2010/main" val="2342508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0F522B-B209-D529-2D4C-2F884711E93C}"/>
              </a:ext>
            </a:extLst>
          </p:cNvPr>
          <p:cNvSpPr txBox="1"/>
          <p:nvPr/>
        </p:nvSpPr>
        <p:spPr>
          <a:xfrm>
            <a:off x="255639" y="1091381"/>
            <a:ext cx="8681884" cy="447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Lower Layers (Data Link &amp; Physical)</a:t>
            </a:r>
          </a:p>
          <a:p>
            <a:pPr algn="just">
              <a:buNone/>
            </a:pP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/>
              <a:t>Data Link Layer (Layer 2)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Provides reliable link between two directly connected devices.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Performs MAC addressing, error detection, and framing.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Switches operate at this layer.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Physical Layer (Layer 1)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Deals with the transmission of raw bits over physical media.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Includes cables, switches, voltages, frequencies, and signaling.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Converts digital data into electrical/optical signals.</a:t>
            </a:r>
          </a:p>
        </p:txBody>
      </p:sp>
    </p:spTree>
    <p:extLst>
      <p:ext uri="{BB962C8B-B14F-4D97-AF65-F5344CB8AC3E}">
        <p14:creationId xmlns:p14="http://schemas.microsoft.com/office/powerpoint/2010/main" val="726005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9ED4F5-9947-E84C-C6FD-9B6FB71DD46C}"/>
              </a:ext>
            </a:extLst>
          </p:cNvPr>
          <p:cNvSpPr txBox="1"/>
          <p:nvPr/>
        </p:nvSpPr>
        <p:spPr>
          <a:xfrm>
            <a:off x="255639" y="1061885"/>
            <a:ext cx="84852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TCP/IP Protocol Suite &amp; Comparison with OSI Model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Overview of the TCP/IP Protocol Suite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TCP/IP model is a practical, implementation-based networking model used in real-world communication.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Developed by the U.S. Department of Defense for interoperability between systems.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Forms the foundation of the modern Internet and uses standard protocols like TCP, UDP, IP, and HTTP.</a:t>
            </a:r>
          </a:p>
          <a:p>
            <a:pPr algn="just"/>
            <a:endParaRPr lang="en-IN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87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6C0422-40CA-9EC4-F4CC-0FB99C656DD7}"/>
              </a:ext>
            </a:extLst>
          </p:cNvPr>
          <p:cNvSpPr txBox="1"/>
          <p:nvPr/>
        </p:nvSpPr>
        <p:spPr>
          <a:xfrm>
            <a:off x="334297" y="1061884"/>
            <a:ext cx="8475406" cy="4845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The 4/5 Layers of the TCP/IP Model</a:t>
            </a:r>
          </a:p>
          <a:p>
            <a:pPr>
              <a:buNone/>
            </a:pPr>
            <a:endParaRPr lang="en-US" b="1" dirty="0"/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1. Application Layer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Combines OSI Layers 5, 6, and 7.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Includes protocols such as HTTP, FTP, DNS, SMTP, and DHCP.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Provides network services to end-user applications.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2. Transport Layer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Responsible for process-to-process communication.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Uses </a:t>
            </a:r>
            <a:r>
              <a:rPr lang="en-US" sz="2000" b="1" dirty="0"/>
              <a:t>TCP</a:t>
            </a:r>
            <a:r>
              <a:rPr lang="en-US" sz="2000" dirty="0"/>
              <a:t> (reliable, connection-oriented) and </a:t>
            </a:r>
            <a:r>
              <a:rPr lang="en-US" sz="2000" b="1" dirty="0"/>
              <a:t>UDP</a:t>
            </a:r>
            <a:r>
              <a:rPr lang="en-US" sz="2000" dirty="0"/>
              <a:t> (fast, connectionless).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Manages segmentation, flow control, and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1935634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F539D3-12A6-835E-778D-FA58E649BD4D}"/>
              </a:ext>
            </a:extLst>
          </p:cNvPr>
          <p:cNvSpPr txBox="1"/>
          <p:nvPr/>
        </p:nvSpPr>
        <p:spPr>
          <a:xfrm>
            <a:off x="353961" y="1061884"/>
            <a:ext cx="8357420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000" b="1" dirty="0"/>
              <a:t>3. Internet Layer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Equivalent to OSI’s Network Layer.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Handles logical addressing (IP addressing) and routing.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Protocols: IP, ICMP, ARP.</a:t>
            </a:r>
          </a:p>
          <a:p>
            <a:pPr algn="just">
              <a:lnSpc>
                <a:spcPct val="150000"/>
              </a:lnSpc>
            </a:pPr>
            <a:endParaRPr lang="en-IN" sz="2000" dirty="0"/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/>
              <a:t>4. Network Access Layer (Link Layer)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Combines OSI Layers 1 and 2.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Deals with hardware addressing, framing, and physical transmission.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Includes Ethernet, Wi-Fi, MAC addressing, and physical media.</a:t>
            </a:r>
          </a:p>
        </p:txBody>
      </p:sp>
    </p:spTree>
    <p:extLst>
      <p:ext uri="{BB962C8B-B14F-4D97-AF65-F5344CB8AC3E}">
        <p14:creationId xmlns:p14="http://schemas.microsoft.com/office/powerpoint/2010/main" val="1586197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CECE0D-9170-28C9-45E7-4D58DD73ABAB}"/>
              </a:ext>
            </a:extLst>
          </p:cNvPr>
          <p:cNvSpPr txBox="1"/>
          <p:nvPr/>
        </p:nvSpPr>
        <p:spPr>
          <a:xfrm>
            <a:off x="285135" y="1002891"/>
            <a:ext cx="8740878" cy="5492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TCP/IP vs. OSI – Structural Comparison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/>
              <a:t>Number of Layers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OSI Model: </a:t>
            </a:r>
            <a:r>
              <a:rPr lang="en-IN" sz="2000" b="1" dirty="0"/>
              <a:t>7 layers</a:t>
            </a:r>
            <a:endParaRPr lang="en-IN" sz="2000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TCP/IP Model: </a:t>
            </a:r>
            <a:r>
              <a:rPr lang="en-IN" sz="2000" b="1" dirty="0"/>
              <a:t>4/5 layers</a:t>
            </a:r>
            <a:r>
              <a:rPr lang="en-IN" sz="2000" dirty="0"/>
              <a:t> (depending on representation)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/>
              <a:t>Design Focus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OSI: </a:t>
            </a:r>
            <a:r>
              <a:rPr lang="en-IN" sz="2000" b="1" dirty="0"/>
              <a:t>Theoretical and conceptual</a:t>
            </a:r>
            <a:r>
              <a:rPr lang="en-IN" sz="2000" dirty="0"/>
              <a:t>, used for teaching and design.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TCP/IP: </a:t>
            </a:r>
            <a:r>
              <a:rPr lang="en-IN" sz="2000" b="1" dirty="0"/>
              <a:t>Practical and protocol-oriented</a:t>
            </a:r>
            <a:r>
              <a:rPr lang="en-IN" sz="2000" dirty="0"/>
              <a:t>, used in real networks.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/>
              <a:t>Layer Mapping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OSI Layers 5–7 ↔ TCP/IP Application Layer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OSI Layer 4 ↔ TCP/IP Transport Layer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OSI Layer 3 ↔ TCP/IP Internet Layer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OSI Layers 1–2 ↔ TCP/IP Network Access Layer</a:t>
            </a:r>
          </a:p>
        </p:txBody>
      </p:sp>
    </p:spTree>
    <p:extLst>
      <p:ext uri="{BB962C8B-B14F-4D97-AF65-F5344CB8AC3E}">
        <p14:creationId xmlns:p14="http://schemas.microsoft.com/office/powerpoint/2010/main" val="1530030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BCDBC6-2961-E555-1536-D7A56389B041}"/>
              </a:ext>
            </a:extLst>
          </p:cNvPr>
          <p:cNvSpPr txBox="1"/>
          <p:nvPr/>
        </p:nvSpPr>
        <p:spPr>
          <a:xfrm>
            <a:off x="255639" y="1052052"/>
            <a:ext cx="8613057" cy="5307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TCP/IP vs. OSI – Functional Differences</a:t>
            </a:r>
          </a:p>
          <a:p>
            <a:pPr>
              <a:buNone/>
            </a:pPr>
            <a:endParaRPr lang="en-IN" b="1" dirty="0"/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/>
              <a:t>Protocol Dependency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OSI is protocol-independent.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TCP/IP is protocol-specific (built around TCP and IP).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dirty="0"/>
              <a:t>Encapsulation Process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Both models use encapsulation, but TCP/IP is optimized for real-world networking.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Encapsulation flow: Application Data → Segment → Packet → Frame → Bits.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/>
              <a:t>Usage in Real Networks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OSI is mainly educational for understanding concepts.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TCP/IP is used in all internet and modern communication systems.</a:t>
            </a:r>
          </a:p>
        </p:txBody>
      </p:sp>
    </p:spTree>
    <p:extLst>
      <p:ext uri="{BB962C8B-B14F-4D97-AF65-F5344CB8AC3E}">
        <p14:creationId xmlns:p14="http://schemas.microsoft.com/office/powerpoint/2010/main" val="725363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E2F184-173A-3CDE-54F9-70C8A4DB8529}"/>
              </a:ext>
            </a:extLst>
          </p:cNvPr>
          <p:cNvSpPr txBox="1"/>
          <p:nvPr/>
        </p:nvSpPr>
        <p:spPr>
          <a:xfrm>
            <a:off x="314633" y="1120877"/>
            <a:ext cx="4404851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Network Topologies</a:t>
            </a:r>
          </a:p>
          <a:p>
            <a:r>
              <a:rPr lang="en-US" sz="2000" b="1" dirty="0"/>
              <a:t>Overview of Network Topologies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network topology defines how computers and devices are arranged and connected in a network.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Common topologies include Bus, Star, Ring, and Mesh, each with unique structures and performance characteristics.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Topology affects network speed, reliability, cost, and ease of maintenance.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83B3B88-8402-FDF2-1A9F-2566F713A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632" y="997667"/>
            <a:ext cx="4090219" cy="508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71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4B42BB-0BE8-6A4F-0A8E-D6FF1F19260E}"/>
              </a:ext>
            </a:extLst>
          </p:cNvPr>
          <p:cNvSpPr txBox="1"/>
          <p:nvPr/>
        </p:nvSpPr>
        <p:spPr>
          <a:xfrm>
            <a:off x="373626" y="943897"/>
            <a:ext cx="8386916" cy="5307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Bus Topology</a:t>
            </a:r>
          </a:p>
          <a:p>
            <a:pPr>
              <a:buNone/>
            </a:pPr>
            <a:endParaRPr lang="en-US" b="1" dirty="0"/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Structure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All devices are connected to a </a:t>
            </a:r>
            <a:r>
              <a:rPr lang="en-US" sz="2000" b="1" dirty="0"/>
              <a:t>single central cable</a:t>
            </a:r>
            <a:r>
              <a:rPr lang="en-US" sz="2000" dirty="0"/>
              <a:t> (bus backbone).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is broadcast to all devices, but only the intended recipient accepts it.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Pros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Easy to install and cost-effective (less cabling).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Works well for small networks.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Cons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Entire network fails if the main cable breaks.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Performance decreases as more devices are added (heavy collisions).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Troubleshooting is difficult.</a:t>
            </a:r>
          </a:p>
        </p:txBody>
      </p:sp>
    </p:spTree>
    <p:extLst>
      <p:ext uri="{BB962C8B-B14F-4D97-AF65-F5344CB8AC3E}">
        <p14:creationId xmlns:p14="http://schemas.microsoft.com/office/powerpoint/2010/main" val="2043929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36701E-603A-5F79-72CE-C4ECF5F270F4}"/>
              </a:ext>
            </a:extLst>
          </p:cNvPr>
          <p:cNvSpPr txBox="1"/>
          <p:nvPr/>
        </p:nvSpPr>
        <p:spPr>
          <a:xfrm>
            <a:off x="314631" y="1022555"/>
            <a:ext cx="8554065" cy="5307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Bus Topology</a:t>
            </a:r>
          </a:p>
          <a:p>
            <a:pPr>
              <a:buNone/>
            </a:pPr>
            <a:endParaRPr lang="en-US" b="1" dirty="0"/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Structure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All devices are connected to a single central cable (bus backbone).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is broadcast to all devices, but only the intended recipient accepts it.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Pros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Easy to install and cost-effective (less cabling).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Works well for small networks.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Cons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Entire network fails if the main cable breaks.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Performance decreases as more devices are added (heavy collisions).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Troubleshooting is difficult.</a:t>
            </a:r>
          </a:p>
        </p:txBody>
      </p:sp>
    </p:spTree>
    <p:extLst>
      <p:ext uri="{BB962C8B-B14F-4D97-AF65-F5344CB8AC3E}">
        <p14:creationId xmlns:p14="http://schemas.microsoft.com/office/powerpoint/2010/main" val="899855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BECCC5-87DE-F191-E193-551404C559D3}"/>
              </a:ext>
            </a:extLst>
          </p:cNvPr>
          <p:cNvSpPr txBox="1"/>
          <p:nvPr/>
        </p:nvSpPr>
        <p:spPr>
          <a:xfrm>
            <a:off x="216310" y="943897"/>
            <a:ext cx="8790038" cy="494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Ring Topology</a:t>
            </a:r>
          </a:p>
          <a:p>
            <a:pPr>
              <a:buNone/>
            </a:pP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Structure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Devices are connected in a </a:t>
            </a:r>
            <a:r>
              <a:rPr lang="en-US" b="1" dirty="0"/>
              <a:t>circular loop</a:t>
            </a:r>
            <a:r>
              <a:rPr lang="en-US" dirty="0"/>
              <a:t>, where each device connects to two others.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travels in one direction (or both in dual-ring).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Pros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data collisions because data moves in a structured path.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Performs well under heavy load compared to bus topology.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Cons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Failure of one device can disrupt the entire network.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Troubleshooting is difficult.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Adding or removing devices is challenging.</a:t>
            </a:r>
          </a:p>
        </p:txBody>
      </p:sp>
    </p:spTree>
    <p:extLst>
      <p:ext uri="{BB962C8B-B14F-4D97-AF65-F5344CB8AC3E}">
        <p14:creationId xmlns:p14="http://schemas.microsoft.com/office/powerpoint/2010/main" val="3377890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2FB068-13CD-2135-0185-23026154E618}"/>
              </a:ext>
            </a:extLst>
          </p:cNvPr>
          <p:cNvSpPr txBox="1"/>
          <p:nvPr/>
        </p:nvSpPr>
        <p:spPr>
          <a:xfrm>
            <a:off x="127819" y="1032388"/>
            <a:ext cx="8799871" cy="5404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Mesh Topology</a:t>
            </a:r>
            <a:endParaRPr lang="en-US" b="1" dirty="0"/>
          </a:p>
          <a:p>
            <a:pPr algn="just">
              <a:lnSpc>
                <a:spcPct val="150000"/>
              </a:lnSpc>
              <a:buNone/>
            </a:pPr>
            <a:r>
              <a:rPr lang="en-US" b="1" dirty="0"/>
              <a:t>Structure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Every device is connected to </a:t>
            </a:r>
            <a:r>
              <a:rPr lang="en-US" b="1" dirty="0"/>
              <a:t>every other device</a:t>
            </a:r>
            <a:r>
              <a:rPr lang="en-US" dirty="0"/>
              <a:t> (full mesh)</a:t>
            </a:r>
            <a:br>
              <a:rPr lang="en-US" dirty="0"/>
            </a:br>
            <a:r>
              <a:rPr lang="en-US" dirty="0"/>
              <a:t>or connected to several others (partial mesh).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Offers multiple paths for data.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b="1" dirty="0"/>
              <a:t>Pros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Highly reliable and fault-tolerant.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If one path fails, data takes another route.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Ideal for critical systems like military or backbone networks.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b="1" dirty="0"/>
              <a:t>Cons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Very expensive due to extensive cabling.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Complex installation and maintenance.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Not suitable for small networks.</a:t>
            </a:r>
          </a:p>
        </p:txBody>
      </p:sp>
    </p:spTree>
    <p:extLst>
      <p:ext uri="{BB962C8B-B14F-4D97-AF65-F5344CB8AC3E}">
        <p14:creationId xmlns:p14="http://schemas.microsoft.com/office/powerpoint/2010/main" val="2264163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F38B0F-356E-E234-53B9-DA8BC3C40C68}"/>
              </a:ext>
            </a:extLst>
          </p:cNvPr>
          <p:cNvSpPr txBox="1"/>
          <p:nvPr/>
        </p:nvSpPr>
        <p:spPr>
          <a:xfrm>
            <a:off x="245807" y="1317522"/>
            <a:ext cx="4581831" cy="4845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Switching Techniques</a:t>
            </a:r>
          </a:p>
          <a:p>
            <a:pPr>
              <a:buNone/>
            </a:pPr>
            <a:endParaRPr lang="en-US" dirty="0"/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Overview of Switching Techniques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Switching techniques determine how data is transferred between devices in a network.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three major techniques are Circuit Switching, Packet Switching, and Message Switching.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Each method has advantages depending on reliability, speed, and network type.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30BCD33-3CF9-19B0-6B03-12050F441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122" y="2007031"/>
            <a:ext cx="4168878" cy="415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048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D9DDA0-BEFC-8603-FAB2-E6A4BAC872C7}"/>
              </a:ext>
            </a:extLst>
          </p:cNvPr>
          <p:cNvSpPr txBox="1"/>
          <p:nvPr/>
        </p:nvSpPr>
        <p:spPr>
          <a:xfrm>
            <a:off x="157316" y="993058"/>
            <a:ext cx="8760542" cy="5492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Circuit Switching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Mechanism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dedicated communication path is established between sender and receiver before data transfer begins.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channel remains reserved for the entire duration of the communication.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Pros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Guaranteed, continuous data flow.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No delays once the connection is established.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Reliable for real-time voice/video (e.g., traditional telephone networks).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Cons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Inefficient: reserved path cannot be used by others even when idle.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Connection setup time is required.</a:t>
            </a:r>
          </a:p>
        </p:txBody>
      </p:sp>
    </p:spTree>
    <p:extLst>
      <p:ext uri="{BB962C8B-B14F-4D97-AF65-F5344CB8AC3E}">
        <p14:creationId xmlns:p14="http://schemas.microsoft.com/office/powerpoint/2010/main" val="586697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3AA29E-7FD6-9444-773B-697CBE6E018E}"/>
              </a:ext>
            </a:extLst>
          </p:cNvPr>
          <p:cNvSpPr txBox="1"/>
          <p:nvPr/>
        </p:nvSpPr>
        <p:spPr>
          <a:xfrm>
            <a:off x="265471" y="1002890"/>
            <a:ext cx="8573729" cy="5492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Message Switching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Mechanism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Entire message is transmitted from one node to another (store-and-forward).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Each intermediate node stores the whole message before forwarding it.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Pros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No need for a dedicated path.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Good for long, large messages.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Useful in applications where delay is acceptable.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Cons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 delay because nodes must store the entire message.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Requires large memory at intermediate nodes.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Not suitable for real-time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4228699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C76907-FB9E-A0D2-A820-6FAFBDADF48C}"/>
              </a:ext>
            </a:extLst>
          </p:cNvPr>
          <p:cNvSpPr txBox="1"/>
          <p:nvPr/>
        </p:nvSpPr>
        <p:spPr>
          <a:xfrm>
            <a:off x="255639" y="993058"/>
            <a:ext cx="8642555" cy="5492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Packet Switching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Mechanism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is broken into small packets; each packet may take a different route to the destination.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Two types: Datagram Packet Switching and Virtual Circuit Packet Switching.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Pros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Efficient use of network bandwidth.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Highly scalable and suitable for Internet traffic.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Supports multiple users sharing the same network.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Cons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Packets may arrive out of order or get delayed.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Requires complex protocols for reassembly and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13162566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178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469</TotalTime>
  <Words>1992</Words>
  <Application>Microsoft Office PowerPoint</Application>
  <PresentationFormat>On-screen Show (4:3)</PresentationFormat>
  <Paragraphs>261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(Body)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DEEPAK PALAVALASA</cp:lastModifiedBy>
  <cp:revision>56</cp:revision>
  <dcterms:created xsi:type="dcterms:W3CDTF">2024-12-13T07:18:04Z</dcterms:created>
  <dcterms:modified xsi:type="dcterms:W3CDTF">2025-11-21T17:38:29Z</dcterms:modified>
</cp:coreProperties>
</file>